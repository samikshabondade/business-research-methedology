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74" r:id="rId6"/>
    <p:sldId id="270" r:id="rId7"/>
    <p:sldId id="271" r:id="rId8"/>
    <p:sldId id="272" r:id="rId9"/>
    <p:sldId id="273" r:id="rId10"/>
    <p:sldId id="275" r:id="rId11"/>
    <p:sldId id="276" r:id="rId12"/>
    <p:sldId id="278" r:id="rId13"/>
    <p:sldId id="279" r:id="rId14"/>
    <p:sldId id="267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E8CF6-ECC9-4DA4-B019-731A61BEA5B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02120-ACF8-4747-9E33-268655BCB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02120-ACF8-4747-9E33-268655BCB26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13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02120-ACF8-4747-9E33-268655BCB26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48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50" b="0" i="0">
                <a:solidFill>
                  <a:srgbClr val="0C234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50" b="0" i="0">
                <a:solidFill>
                  <a:srgbClr val="0C234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8945" y="6643776"/>
            <a:ext cx="8292941" cy="288996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8945" y="5190941"/>
            <a:ext cx="918820" cy="106017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40480" y="5293032"/>
            <a:ext cx="698931" cy="118582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0378" y="5175235"/>
            <a:ext cx="1295772" cy="125650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87508" y="5709250"/>
            <a:ext cx="1476394" cy="80102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97406" y="5151675"/>
            <a:ext cx="2434480" cy="128006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93781" y="5332298"/>
            <a:ext cx="863848" cy="2434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50" b="0" i="0">
                <a:solidFill>
                  <a:srgbClr val="0C234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50" b="0" i="0">
                <a:solidFill>
                  <a:srgbClr val="0C234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03468" y="4120027"/>
            <a:ext cx="5297163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50" b="0" i="0">
                <a:solidFill>
                  <a:srgbClr val="0C234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6069" y="4851025"/>
            <a:ext cx="16804005" cy="2829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Questionnair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98146" y="7299515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39265">
            <a:solidFill>
              <a:srgbClr val="9080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88261" y="2022578"/>
            <a:ext cx="587121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75030" algn="l"/>
                <a:tab pos="2557145" algn="l"/>
                <a:tab pos="3702050" algn="l"/>
              </a:tabLst>
            </a:pPr>
            <a:r>
              <a:rPr sz="2800" spc="-340" dirty="0">
                <a:solidFill>
                  <a:srgbClr val="9A8969"/>
                </a:solidFill>
              </a:rPr>
              <a:t>R</a:t>
            </a:r>
            <a:r>
              <a:rPr sz="2800" spc="110" dirty="0">
                <a:solidFill>
                  <a:srgbClr val="9A8969"/>
                </a:solidFill>
              </a:rPr>
              <a:t> </a:t>
            </a:r>
            <a:r>
              <a:rPr sz="2800" spc="-295" dirty="0">
                <a:solidFill>
                  <a:srgbClr val="A78967"/>
                </a:solidFill>
              </a:rPr>
              <a:t>E</a:t>
            </a:r>
            <a:r>
              <a:rPr sz="2800" spc="-220" dirty="0">
                <a:solidFill>
                  <a:srgbClr val="A78967"/>
                </a:solidFill>
              </a:rPr>
              <a:t> </a:t>
            </a:r>
            <a:r>
              <a:rPr sz="2800" spc="-320" dirty="0">
                <a:solidFill>
                  <a:srgbClr val="A0856D"/>
                </a:solidFill>
              </a:rPr>
              <a:t>S</a:t>
            </a:r>
            <a:r>
              <a:rPr sz="2800" dirty="0">
                <a:solidFill>
                  <a:srgbClr val="A0856D"/>
                </a:solidFill>
              </a:rPr>
              <a:t>	</a:t>
            </a:r>
            <a:r>
              <a:rPr sz="2800" spc="50" dirty="0">
                <a:solidFill>
                  <a:srgbClr val="AC8E6D"/>
                </a:solidFill>
              </a:rPr>
              <a:t>EA</a:t>
            </a:r>
            <a:r>
              <a:rPr sz="2800" spc="35" dirty="0">
                <a:solidFill>
                  <a:srgbClr val="AC8E6D"/>
                </a:solidFill>
              </a:rPr>
              <a:t> </a:t>
            </a:r>
            <a:r>
              <a:rPr sz="2800" spc="-340" dirty="0">
                <a:solidFill>
                  <a:srgbClr val="9C876D"/>
                </a:solidFill>
              </a:rPr>
              <a:t>R</a:t>
            </a:r>
            <a:r>
              <a:rPr sz="2800" dirty="0">
                <a:solidFill>
                  <a:srgbClr val="9C876D"/>
                </a:solidFill>
              </a:rPr>
              <a:t> </a:t>
            </a:r>
            <a:r>
              <a:rPr sz="2800" spc="165" dirty="0">
                <a:solidFill>
                  <a:srgbClr val="9E8C6E"/>
                </a:solidFill>
              </a:rPr>
              <a:t>C</a:t>
            </a:r>
            <a:r>
              <a:rPr sz="2800" spc="-25" dirty="0">
                <a:solidFill>
                  <a:srgbClr val="9E8C6E"/>
                </a:solidFill>
              </a:rPr>
              <a:t> </a:t>
            </a:r>
            <a:r>
              <a:rPr sz="2800" spc="-315" dirty="0">
                <a:solidFill>
                  <a:srgbClr val="9C8774"/>
                </a:solidFill>
              </a:rPr>
              <a:t>H</a:t>
            </a:r>
            <a:r>
              <a:rPr sz="2800" dirty="0">
                <a:solidFill>
                  <a:srgbClr val="9C8774"/>
                </a:solidFill>
              </a:rPr>
              <a:t>	</a:t>
            </a:r>
            <a:r>
              <a:rPr sz="2800" spc="150" dirty="0">
                <a:solidFill>
                  <a:srgbClr val="9E8A72"/>
                </a:solidFill>
              </a:rPr>
              <a:t>PR</a:t>
            </a:r>
            <a:r>
              <a:rPr sz="2800" spc="120" dirty="0">
                <a:solidFill>
                  <a:srgbClr val="9E8A72"/>
                </a:solidFill>
              </a:rPr>
              <a:t> </a:t>
            </a:r>
            <a:r>
              <a:rPr sz="2800" spc="-295" dirty="0">
                <a:solidFill>
                  <a:srgbClr val="B38C6D"/>
                </a:solidFill>
              </a:rPr>
              <a:t>E</a:t>
            </a:r>
            <a:r>
              <a:rPr sz="2800" spc="-215" dirty="0">
                <a:solidFill>
                  <a:srgbClr val="B38C6D"/>
                </a:solidFill>
              </a:rPr>
              <a:t> </a:t>
            </a:r>
            <a:r>
              <a:rPr sz="2800" spc="-320" dirty="0">
                <a:solidFill>
                  <a:srgbClr val="A18564"/>
                </a:solidFill>
              </a:rPr>
              <a:t>S</a:t>
            </a:r>
            <a:r>
              <a:rPr sz="2800" dirty="0">
                <a:solidFill>
                  <a:srgbClr val="A18564"/>
                </a:solidFill>
              </a:rPr>
              <a:t>	</a:t>
            </a:r>
            <a:r>
              <a:rPr sz="2800" spc="-295" dirty="0">
                <a:solidFill>
                  <a:srgbClr val="AC8E6D"/>
                </a:solidFill>
              </a:rPr>
              <a:t>E</a:t>
            </a:r>
            <a:r>
              <a:rPr sz="2800" spc="60" dirty="0">
                <a:solidFill>
                  <a:srgbClr val="AC8E6D"/>
                </a:solidFill>
              </a:rPr>
              <a:t> </a:t>
            </a:r>
            <a:r>
              <a:rPr sz="2800" spc="-345" dirty="0">
                <a:solidFill>
                  <a:srgbClr val="A09074"/>
                </a:solidFill>
              </a:rPr>
              <a:t>N</a:t>
            </a:r>
            <a:r>
              <a:rPr sz="2800" spc="-45" dirty="0">
                <a:solidFill>
                  <a:srgbClr val="A09074"/>
                </a:solidFill>
              </a:rPr>
              <a:t> </a:t>
            </a:r>
            <a:r>
              <a:rPr sz="2800" spc="195" dirty="0">
                <a:solidFill>
                  <a:srgbClr val="A08A6E"/>
                </a:solidFill>
              </a:rPr>
              <a:t>TAT</a:t>
            </a:r>
            <a:r>
              <a:rPr sz="2800" spc="60" dirty="0">
                <a:solidFill>
                  <a:srgbClr val="A08A6E"/>
                </a:solidFill>
              </a:rPr>
              <a:t> </a:t>
            </a:r>
            <a:r>
              <a:rPr sz="2800" spc="-585" dirty="0">
                <a:solidFill>
                  <a:srgbClr val="A78C6E"/>
                </a:solidFill>
              </a:rPr>
              <a:t>I</a:t>
            </a:r>
            <a:r>
              <a:rPr sz="2800" spc="90" dirty="0">
                <a:solidFill>
                  <a:srgbClr val="A78C6E"/>
                </a:solidFill>
              </a:rPr>
              <a:t> </a:t>
            </a:r>
            <a:r>
              <a:rPr sz="2800" spc="170" dirty="0">
                <a:solidFill>
                  <a:srgbClr val="908062"/>
                </a:solidFill>
              </a:rPr>
              <a:t>ON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502060" y="3004223"/>
            <a:ext cx="16979265" cy="3621404"/>
          </a:xfrm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065" marR="5080" algn="ctr">
              <a:lnSpc>
                <a:spcPct val="79800"/>
              </a:lnSpc>
              <a:spcBef>
                <a:spcPts val="2300"/>
              </a:spcBef>
            </a:pPr>
            <a:r>
              <a:rPr sz="9000" spc="-30" dirty="0">
                <a:solidFill>
                  <a:srgbClr val="0C2349"/>
                </a:solidFill>
                <a:latin typeface="Times New Roman"/>
                <a:cs typeface="Times New Roman"/>
              </a:rPr>
              <a:t>Social</a:t>
            </a:r>
            <a:r>
              <a:rPr sz="9000" spc="-400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sz="9000" spc="-204" dirty="0">
                <a:solidFill>
                  <a:srgbClr val="0F2344"/>
                </a:solidFill>
                <a:latin typeface="Times New Roman"/>
                <a:cs typeface="Times New Roman"/>
              </a:rPr>
              <a:t>Media</a:t>
            </a:r>
            <a:r>
              <a:rPr sz="9000" spc="-325" dirty="0">
                <a:solidFill>
                  <a:srgbClr val="0F2344"/>
                </a:solidFill>
                <a:latin typeface="Times New Roman"/>
                <a:cs typeface="Times New Roman"/>
              </a:rPr>
              <a:t> </a:t>
            </a:r>
            <a:r>
              <a:rPr sz="9000" spc="100" dirty="0">
                <a:solidFill>
                  <a:srgbClr val="0C2349"/>
                </a:solidFill>
                <a:latin typeface="Times New Roman"/>
                <a:cs typeface="Times New Roman"/>
              </a:rPr>
              <a:t>for</a:t>
            </a:r>
            <a:r>
              <a:rPr sz="9000" spc="-560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sz="9000" spc="-90" dirty="0">
                <a:solidFill>
                  <a:srgbClr val="082648"/>
                </a:solidFill>
                <a:latin typeface="Times New Roman"/>
                <a:cs typeface="Times New Roman"/>
              </a:rPr>
              <a:t>Travel:</a:t>
            </a:r>
            <a:r>
              <a:rPr sz="9000" spc="-500" dirty="0">
                <a:solidFill>
                  <a:srgbClr val="082648"/>
                </a:solidFill>
                <a:latin typeface="Times New Roman"/>
                <a:cs typeface="Times New Roman"/>
              </a:rPr>
              <a:t> </a:t>
            </a:r>
            <a:r>
              <a:rPr sz="9000" spc="-440" dirty="0">
                <a:solidFill>
                  <a:srgbClr val="0C2344"/>
                </a:solidFill>
                <a:latin typeface="Times New Roman"/>
                <a:cs typeface="Times New Roman"/>
              </a:rPr>
              <a:t>An</a:t>
            </a:r>
            <a:r>
              <a:rPr sz="9000" spc="-140" dirty="0">
                <a:solidFill>
                  <a:srgbClr val="0C2344"/>
                </a:solidFill>
                <a:latin typeface="Times New Roman"/>
                <a:cs typeface="Times New Roman"/>
              </a:rPr>
              <a:t> </a:t>
            </a:r>
            <a:r>
              <a:rPr sz="9000" spc="-65" dirty="0">
                <a:solidFill>
                  <a:srgbClr val="0C2348"/>
                </a:solidFill>
                <a:latin typeface="Times New Roman"/>
                <a:cs typeface="Times New Roman"/>
              </a:rPr>
              <a:t>Ex</a:t>
            </a:r>
            <a:r>
              <a:rPr lang="en-IN" sz="9000" spc="-65" dirty="0">
                <a:solidFill>
                  <a:srgbClr val="0C2348"/>
                </a:solidFill>
                <a:latin typeface="Times New Roman"/>
                <a:cs typeface="Times New Roman"/>
              </a:rPr>
              <a:t>t</a:t>
            </a:r>
            <a:r>
              <a:rPr sz="9000" spc="-65" dirty="0" err="1">
                <a:solidFill>
                  <a:srgbClr val="0C2348"/>
                </a:solidFill>
                <a:latin typeface="Times New Roman"/>
                <a:cs typeface="Times New Roman"/>
              </a:rPr>
              <a:t>en</a:t>
            </a:r>
            <a:r>
              <a:rPr lang="en-IN" sz="9000" spc="-65" dirty="0">
                <a:solidFill>
                  <a:srgbClr val="0C2348"/>
                </a:solidFill>
                <a:latin typeface="Times New Roman"/>
                <a:cs typeface="Times New Roman"/>
              </a:rPr>
              <a:t>d</a:t>
            </a:r>
            <a:r>
              <a:rPr sz="9000" spc="-65" dirty="0">
                <a:solidFill>
                  <a:srgbClr val="0C2348"/>
                </a:solidFill>
                <a:latin typeface="Times New Roman"/>
                <a:cs typeface="Times New Roman"/>
              </a:rPr>
              <a:t>ed </a:t>
            </a:r>
            <a:r>
              <a:rPr sz="9000" dirty="0">
                <a:solidFill>
                  <a:srgbClr val="0C2349"/>
                </a:solidFill>
                <a:latin typeface="Times New Roman"/>
                <a:cs typeface="Times New Roman"/>
              </a:rPr>
              <a:t>Theory</a:t>
            </a:r>
            <a:r>
              <a:rPr sz="9000" spc="-260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sz="9000" spc="-340" dirty="0">
                <a:solidFill>
                  <a:srgbClr val="0C2349"/>
                </a:solidFill>
                <a:latin typeface="Times New Roman"/>
                <a:cs typeface="Times New Roman"/>
              </a:rPr>
              <a:t>of</a:t>
            </a:r>
            <a:r>
              <a:rPr sz="9000" spc="155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sz="9000" dirty="0">
                <a:solidFill>
                  <a:srgbClr val="082648"/>
                </a:solidFill>
                <a:latin typeface="Times New Roman"/>
                <a:cs typeface="Times New Roman"/>
              </a:rPr>
              <a:t>Planned</a:t>
            </a:r>
            <a:r>
              <a:rPr sz="9000" spc="355" dirty="0">
                <a:solidFill>
                  <a:srgbClr val="082648"/>
                </a:solidFill>
                <a:latin typeface="Times New Roman"/>
                <a:cs typeface="Times New Roman"/>
              </a:rPr>
              <a:t> </a:t>
            </a:r>
            <a:r>
              <a:rPr sz="9000" spc="-10" dirty="0">
                <a:solidFill>
                  <a:srgbClr val="082648"/>
                </a:solidFill>
                <a:latin typeface="Times New Roman"/>
                <a:cs typeface="Times New Roman"/>
              </a:rPr>
              <a:t>Behavior </a:t>
            </a:r>
            <a:r>
              <a:rPr sz="9250" spc="-55" dirty="0">
                <a:solidFill>
                  <a:srgbClr val="0C234D"/>
                </a:solidFill>
                <a:latin typeface="Times New Roman"/>
                <a:cs typeface="Times New Roman"/>
              </a:rPr>
              <a:t>Approach</a:t>
            </a:r>
            <a:endParaRPr sz="92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4696" y="7700416"/>
            <a:ext cx="8190865" cy="2547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95630">
              <a:lnSpc>
                <a:spcPct val="145400"/>
              </a:lnSpc>
              <a:spcBef>
                <a:spcPts val="90"/>
              </a:spcBef>
            </a:pPr>
            <a:r>
              <a:rPr sz="2800" spc="50" dirty="0">
                <a:solidFill>
                  <a:srgbClr val="464646"/>
                </a:solidFill>
                <a:latin typeface="Arial MT"/>
                <a:cs typeface="Arial MT"/>
              </a:rPr>
              <a:t>Presented</a:t>
            </a:r>
            <a:r>
              <a:rPr sz="2800" spc="2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65460"/>
                </a:solidFill>
                <a:latin typeface="Arial MT"/>
                <a:cs typeface="Arial MT"/>
              </a:rPr>
              <a:t>by:</a:t>
            </a:r>
            <a:r>
              <a:rPr sz="2800" spc="420" dirty="0">
                <a:solidFill>
                  <a:srgbClr val="46546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44F60"/>
                </a:solidFill>
                <a:latin typeface="Arial MT"/>
                <a:cs typeface="Arial MT"/>
              </a:rPr>
              <a:t>Samiksha</a:t>
            </a:r>
            <a:r>
              <a:rPr sz="2800" spc="375" dirty="0">
                <a:solidFill>
                  <a:srgbClr val="444F6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94949"/>
                </a:solidFill>
                <a:latin typeface="Arial MT"/>
                <a:cs typeface="Arial MT"/>
              </a:rPr>
              <a:t>Gururaj</a:t>
            </a:r>
            <a:r>
              <a:rPr sz="2800" spc="2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800" spc="-10" dirty="0" err="1">
                <a:solidFill>
                  <a:srgbClr val="505050"/>
                </a:solidFill>
                <a:latin typeface="Arial MT"/>
                <a:cs typeface="Arial MT"/>
              </a:rPr>
              <a:t>Bondade</a:t>
            </a:r>
            <a:r>
              <a:rPr lang="en-US" sz="2800" spc="-1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</a:p>
          <a:p>
            <a:pPr marL="12700" marR="5080" indent="595630" algn="ctr">
              <a:lnSpc>
                <a:spcPct val="145400"/>
              </a:lnSpc>
              <a:spcBef>
                <a:spcPts val="90"/>
              </a:spcBef>
            </a:pPr>
            <a:r>
              <a:rPr lang="en-US" sz="2800" spc="-10" dirty="0">
                <a:solidFill>
                  <a:srgbClr val="505050"/>
                </a:solidFill>
                <a:latin typeface="Arial MT"/>
                <a:cs typeface="Arial MT"/>
              </a:rPr>
              <a:t>and Riya Bhalsod </a:t>
            </a:r>
          </a:p>
          <a:p>
            <a:pPr marL="12700" marR="5080" indent="595630">
              <a:lnSpc>
                <a:spcPct val="145400"/>
              </a:lnSpc>
              <a:spcBef>
                <a:spcPts val="90"/>
              </a:spcBef>
            </a:pPr>
            <a:r>
              <a:rPr sz="2800" dirty="0">
                <a:solidFill>
                  <a:srgbClr val="42576D"/>
                </a:solidFill>
                <a:latin typeface="Arial MT"/>
                <a:cs typeface="Arial MT"/>
              </a:rPr>
              <a:t>•</a:t>
            </a:r>
            <a:r>
              <a:rPr sz="2800" spc="215" dirty="0">
                <a:solidFill>
                  <a:srgbClr val="42576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84848"/>
                </a:solidFill>
                <a:latin typeface="Arial MT"/>
                <a:cs typeface="Arial MT"/>
              </a:rPr>
              <a:t>Subject:</a:t>
            </a:r>
            <a:r>
              <a:rPr sz="2800" spc="3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B4B4B"/>
                </a:solidFill>
                <a:latin typeface="Arial MT"/>
                <a:cs typeface="Arial MT"/>
              </a:rPr>
              <a:t>Business</a:t>
            </a:r>
            <a:r>
              <a:rPr sz="2800" spc="14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B4B4B"/>
                </a:solidFill>
                <a:latin typeface="Arial MT"/>
                <a:cs typeface="Arial MT"/>
              </a:rPr>
              <a:t>Research</a:t>
            </a:r>
            <a:r>
              <a:rPr sz="2800" spc="7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494949"/>
                </a:solidFill>
                <a:latin typeface="Arial MT"/>
                <a:cs typeface="Arial MT"/>
              </a:rPr>
              <a:t>Methodology</a:t>
            </a:r>
            <a:endParaRPr sz="2800" dirty="0">
              <a:latin typeface="Arial MT"/>
              <a:cs typeface="Arial MT"/>
            </a:endParaRPr>
          </a:p>
          <a:p>
            <a:pPr marL="2426970">
              <a:lnSpc>
                <a:spcPct val="100000"/>
              </a:lnSpc>
              <a:spcBef>
                <a:spcPts val="1590"/>
              </a:spcBef>
            </a:pPr>
            <a:r>
              <a:rPr sz="2800" dirty="0">
                <a:solidFill>
                  <a:srgbClr val="4F4F4F"/>
                </a:solidFill>
                <a:latin typeface="Arial MT"/>
                <a:cs typeface="Arial MT"/>
              </a:rPr>
              <a:t>Academic</a:t>
            </a:r>
            <a:r>
              <a:rPr sz="2800" spc="19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505050"/>
                </a:solidFill>
                <a:latin typeface="Arial MT"/>
                <a:cs typeface="Arial MT"/>
              </a:rPr>
              <a:t>Year</a:t>
            </a:r>
            <a:r>
              <a:rPr sz="2800" spc="5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494949"/>
                </a:solidFill>
                <a:latin typeface="Arial MT"/>
                <a:cs typeface="Arial MT"/>
              </a:rPr>
              <a:t>2026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54584" y="4054475"/>
            <a:ext cx="2356485" cy="0"/>
          </a:xfrm>
          <a:custGeom>
            <a:avLst/>
            <a:gdLst/>
            <a:ahLst/>
            <a:cxnLst/>
            <a:rect l="l" t="t" r="r" b="b"/>
            <a:pathLst>
              <a:path w="2356484">
                <a:moveTo>
                  <a:pt x="0" y="0"/>
                </a:moveTo>
                <a:lnTo>
                  <a:pt x="2355949" y="0"/>
                </a:lnTo>
              </a:path>
            </a:pathLst>
          </a:custGeom>
          <a:ln w="549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57286" y="1732280"/>
            <a:ext cx="7350125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200" spc="-270" dirty="0">
                <a:solidFill>
                  <a:srgbClr val="0C2349"/>
                </a:solidFill>
                <a:latin typeface="Cambria"/>
                <a:cs typeface="Cambria"/>
              </a:rPr>
              <a:t>Introduction</a:t>
            </a:r>
            <a:endParaRPr sz="11200" dirty="0">
              <a:latin typeface="Cambria"/>
              <a:cs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0626B-31EB-0D4F-09FD-0C7AAEC34E3B}"/>
              </a:ext>
            </a:extLst>
          </p:cNvPr>
          <p:cNvSpPr txBox="1"/>
          <p:nvPr/>
        </p:nvSpPr>
        <p:spPr>
          <a:xfrm>
            <a:off x="3651250" y="4892675"/>
            <a:ext cx="132588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Total Literature Search:  50</a:t>
            </a:r>
          </a:p>
          <a:p>
            <a:endParaRPr lang="en-IN" sz="4000" dirty="0"/>
          </a:p>
          <a:p>
            <a:r>
              <a:rPr lang="en-IN" sz="4000" dirty="0"/>
              <a:t>Total Literature  with model  10</a:t>
            </a:r>
          </a:p>
          <a:p>
            <a:endParaRPr lang="en-IN" sz="4000" dirty="0"/>
          </a:p>
          <a:p>
            <a:r>
              <a:rPr lang="en-IN" sz="4000" dirty="0"/>
              <a:t>Final Topic : </a:t>
            </a:r>
            <a:r>
              <a:rPr lang="en-US" sz="3600" spc="-30" dirty="0">
                <a:solidFill>
                  <a:srgbClr val="0C2349"/>
                </a:solidFill>
                <a:latin typeface="Times New Roman"/>
                <a:cs typeface="Times New Roman"/>
              </a:rPr>
              <a:t>Social</a:t>
            </a:r>
            <a:r>
              <a:rPr lang="en-US" sz="3600" spc="-400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lang="en-US" sz="3600" spc="-204" dirty="0">
                <a:solidFill>
                  <a:srgbClr val="0F2344"/>
                </a:solidFill>
                <a:latin typeface="Times New Roman"/>
                <a:cs typeface="Times New Roman"/>
              </a:rPr>
              <a:t>Media</a:t>
            </a:r>
            <a:r>
              <a:rPr lang="en-US" sz="3600" spc="-325" dirty="0">
                <a:solidFill>
                  <a:srgbClr val="0F2344"/>
                </a:solidFill>
                <a:latin typeface="Times New Roman"/>
                <a:cs typeface="Times New Roman"/>
              </a:rPr>
              <a:t> </a:t>
            </a:r>
            <a:r>
              <a:rPr lang="en-US" sz="3600" spc="100" dirty="0">
                <a:solidFill>
                  <a:srgbClr val="0C2349"/>
                </a:solidFill>
                <a:latin typeface="Times New Roman"/>
                <a:cs typeface="Times New Roman"/>
              </a:rPr>
              <a:t>for</a:t>
            </a:r>
            <a:r>
              <a:rPr lang="en-US" sz="3600" spc="-560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lang="en-US" sz="3600" spc="-90" dirty="0">
                <a:solidFill>
                  <a:srgbClr val="082648"/>
                </a:solidFill>
                <a:latin typeface="Times New Roman"/>
                <a:cs typeface="Times New Roman"/>
              </a:rPr>
              <a:t>Travel:</a:t>
            </a:r>
            <a:r>
              <a:rPr lang="en-US" sz="3600" spc="-500" dirty="0">
                <a:solidFill>
                  <a:srgbClr val="082648"/>
                </a:solidFill>
                <a:latin typeface="Times New Roman"/>
                <a:cs typeface="Times New Roman"/>
              </a:rPr>
              <a:t> </a:t>
            </a:r>
            <a:r>
              <a:rPr lang="en-US" sz="3600" spc="-440" dirty="0">
                <a:solidFill>
                  <a:srgbClr val="0C2344"/>
                </a:solidFill>
                <a:latin typeface="Times New Roman"/>
                <a:cs typeface="Times New Roman"/>
              </a:rPr>
              <a:t>An</a:t>
            </a:r>
            <a:r>
              <a:rPr lang="en-US" sz="3600" spc="-140" dirty="0">
                <a:solidFill>
                  <a:srgbClr val="0C2344"/>
                </a:solidFill>
                <a:latin typeface="Times New Roman"/>
                <a:cs typeface="Times New Roman"/>
              </a:rPr>
              <a:t>  </a:t>
            </a:r>
            <a:r>
              <a:rPr lang="en-US" sz="3600" spc="-65" dirty="0">
                <a:solidFill>
                  <a:srgbClr val="0C2348"/>
                </a:solidFill>
                <a:latin typeface="Times New Roman"/>
                <a:cs typeface="Times New Roman"/>
              </a:rPr>
              <a:t>Extended </a:t>
            </a:r>
            <a:r>
              <a:rPr lang="en-US" sz="3600" dirty="0">
                <a:solidFill>
                  <a:srgbClr val="0C2349"/>
                </a:solidFill>
                <a:latin typeface="Times New Roman"/>
                <a:cs typeface="Times New Roman"/>
              </a:rPr>
              <a:t>Theory</a:t>
            </a:r>
            <a:r>
              <a:rPr lang="en-US" sz="3600" spc="-260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lang="en-US" sz="3600" spc="-340" dirty="0">
                <a:solidFill>
                  <a:srgbClr val="0C2349"/>
                </a:solidFill>
                <a:latin typeface="Times New Roman"/>
                <a:cs typeface="Times New Roman"/>
              </a:rPr>
              <a:t>of</a:t>
            </a:r>
            <a:r>
              <a:rPr lang="en-US" sz="3600" spc="155" dirty="0">
                <a:solidFill>
                  <a:srgbClr val="0C2349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rgbClr val="082648"/>
                </a:solidFill>
                <a:latin typeface="Times New Roman"/>
                <a:cs typeface="Times New Roman"/>
              </a:rPr>
              <a:t>Planned</a:t>
            </a:r>
            <a:r>
              <a:rPr lang="en-US" sz="3600" spc="355" dirty="0">
                <a:solidFill>
                  <a:srgbClr val="082648"/>
                </a:solidFill>
                <a:latin typeface="Times New Roman"/>
                <a:cs typeface="Times New Roman"/>
              </a:rPr>
              <a:t> </a:t>
            </a:r>
            <a:r>
              <a:rPr lang="en-US" sz="3600" spc="-10" dirty="0">
                <a:solidFill>
                  <a:srgbClr val="082648"/>
                </a:solidFill>
                <a:latin typeface="Times New Roman"/>
                <a:cs typeface="Times New Roman"/>
              </a:rPr>
              <a:t>Behavior </a:t>
            </a:r>
            <a:r>
              <a:rPr lang="en-US" sz="3600" spc="-55" dirty="0">
                <a:solidFill>
                  <a:srgbClr val="0C234D"/>
                </a:solidFill>
                <a:latin typeface="Times New Roman"/>
                <a:cs typeface="Times New Roman"/>
              </a:rPr>
              <a:t>Approach</a:t>
            </a:r>
            <a:endParaRPr lang="en-US" sz="4000" dirty="0">
              <a:latin typeface="Times New Roman"/>
              <a:cs typeface="Times New Roman"/>
            </a:endParaRPr>
          </a:p>
          <a:p>
            <a:endParaRPr lang="en-IN" sz="4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DE18-F5C8-F0B9-6C8A-110B335C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3468" y="1311275"/>
            <a:ext cx="5297163" cy="1380489"/>
          </a:xfrm>
        </p:spPr>
        <p:txBody>
          <a:bodyPr/>
          <a:lstStyle/>
          <a:p>
            <a:r>
              <a:rPr lang="en-IN" dirty="0"/>
              <a:t>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DFB80-9951-E66B-1643-A0BFEF89A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0" y="2911475"/>
            <a:ext cx="13884275" cy="594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02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F07A-CE91-0244-E21F-E81D02ED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050" y="894398"/>
            <a:ext cx="8305800" cy="1636077"/>
          </a:xfrm>
        </p:spPr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Role of variables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0C8A3-5483-6DF1-C2A0-B6F1E17F7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99050" y="4054475"/>
            <a:ext cx="8686800" cy="544764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dirty="0"/>
              <a:t>Perceived Enjoyment </a:t>
            </a:r>
            <a:r>
              <a:rPr lang="en-IN" sz="2800" b="1" dirty="0"/>
              <a:t>:  Independent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Trustworthiness</a:t>
            </a:r>
            <a:r>
              <a:rPr lang="en-IN" sz="2800" b="1" dirty="0"/>
              <a:t>: Independent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Influencer Credibility</a:t>
            </a:r>
            <a:r>
              <a:rPr lang="en-IN" sz="2800" b="1" dirty="0"/>
              <a:t>: Independent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Attitude Toward Social Media for Travel</a:t>
            </a:r>
            <a:r>
              <a:rPr lang="en-IN" sz="2800" b="1" dirty="0"/>
              <a:t>: Mediator 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Travel Experience</a:t>
            </a:r>
            <a:r>
              <a:rPr lang="en-IN" sz="2800" b="1" dirty="0"/>
              <a:t>: Moderator 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Actual Travel Behaviour</a:t>
            </a:r>
            <a:r>
              <a:rPr lang="en-IN" sz="2800" b="1" dirty="0"/>
              <a:t>: Dependent</a:t>
            </a:r>
            <a:endParaRPr lang="en-IN" sz="28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83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3FE8A-7294-0691-F353-DA3EA650D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069" y="854075"/>
            <a:ext cx="16804005" cy="10075962"/>
          </a:xfrm>
        </p:spPr>
        <p:txBody>
          <a:bodyPr/>
          <a:lstStyle/>
          <a:p>
            <a:r>
              <a:rPr lang="en-US" b="1" dirty="0"/>
              <a:t>1. Perceived Enjoyment (Independent Variable)</a:t>
            </a:r>
          </a:p>
          <a:p>
            <a:r>
              <a:rPr lang="en-US" dirty="0"/>
              <a:t>Refers to the </a:t>
            </a:r>
            <a:r>
              <a:rPr lang="en-US" b="1" dirty="0"/>
              <a:t>level of fun, pleasure, or entertainment</a:t>
            </a:r>
            <a:r>
              <a:rPr lang="en-US" dirty="0"/>
              <a:t> a user experiences while using social media for travel. </a:t>
            </a:r>
          </a:p>
          <a:p>
            <a:r>
              <a:rPr lang="en-US" dirty="0"/>
              <a:t>If users enjoy browsing travel content, they are more likely to develop a positive attitude. </a:t>
            </a:r>
          </a:p>
          <a:p>
            <a:endParaRPr lang="en-US" dirty="0"/>
          </a:p>
          <a:p>
            <a:r>
              <a:rPr lang="en-US" b="1" dirty="0"/>
              <a:t>2. Trustworthiness (Independent Variable)</a:t>
            </a:r>
          </a:p>
          <a:p>
            <a:r>
              <a:rPr lang="en-US" dirty="0"/>
              <a:t>The degree to which users believe that </a:t>
            </a:r>
            <a:r>
              <a:rPr lang="en-US" b="1" dirty="0"/>
              <a:t>travel information on social media is reliable and honest</a:t>
            </a:r>
            <a:r>
              <a:rPr lang="en-US" dirty="0"/>
              <a:t>. </a:t>
            </a:r>
          </a:p>
          <a:p>
            <a:r>
              <a:rPr lang="en-US" dirty="0"/>
              <a:t>Higher trust leads to stronger confidence in travel-related decisions. </a:t>
            </a:r>
          </a:p>
          <a:p>
            <a:br>
              <a:rPr lang="en-US" dirty="0"/>
            </a:br>
            <a:r>
              <a:rPr lang="en-US" b="1" dirty="0"/>
              <a:t>3. Influencer Credibility (Independent Variable)</a:t>
            </a:r>
          </a:p>
          <a:p>
            <a:r>
              <a:rPr lang="en-US" dirty="0"/>
              <a:t>Refers to how </a:t>
            </a:r>
            <a:r>
              <a:rPr lang="en-US" b="1" dirty="0"/>
              <a:t>believable, expert, and authentic</a:t>
            </a:r>
            <a:r>
              <a:rPr lang="en-US" dirty="0"/>
              <a:t> a social media influencer is. </a:t>
            </a:r>
          </a:p>
          <a:p>
            <a:r>
              <a:rPr lang="en-US" dirty="0"/>
              <a:t>Credible influencers strongly impact users’ perceptions and travel choices.</a:t>
            </a:r>
          </a:p>
          <a:p>
            <a:endParaRPr lang="en-US" dirty="0"/>
          </a:p>
          <a:p>
            <a:r>
              <a:rPr lang="en-US" b="1" dirty="0"/>
              <a:t>4. Attitude Toward Social Media for Travel (Mediator)</a:t>
            </a:r>
          </a:p>
          <a:p>
            <a:r>
              <a:rPr lang="en-US" dirty="0"/>
              <a:t>Represents the </a:t>
            </a:r>
            <a:r>
              <a:rPr lang="en-US" b="1" dirty="0"/>
              <a:t>overall positive or negative evaluation</a:t>
            </a:r>
            <a:r>
              <a:rPr lang="en-US" dirty="0"/>
              <a:t> of using social media for travel planning. </a:t>
            </a:r>
          </a:p>
          <a:p>
            <a:r>
              <a:rPr lang="en-US" dirty="0"/>
              <a:t>It acts as a </a:t>
            </a:r>
            <a:r>
              <a:rPr lang="en-US" b="1" dirty="0"/>
              <a:t>bridge (mediator)</a:t>
            </a:r>
            <a:r>
              <a:rPr lang="en-US" dirty="0"/>
              <a:t> between independent variables and actual behavior.</a:t>
            </a:r>
          </a:p>
          <a:p>
            <a:endParaRPr lang="en-US" dirty="0"/>
          </a:p>
          <a:p>
            <a:r>
              <a:rPr lang="en-US" b="1" dirty="0"/>
              <a:t>5. Travel Experience (Moderator)</a:t>
            </a:r>
          </a:p>
          <a:p>
            <a:r>
              <a:rPr lang="en-US" dirty="0"/>
              <a:t>Refers to a person’s </a:t>
            </a:r>
            <a:r>
              <a:rPr lang="en-US" b="1" dirty="0"/>
              <a:t>past travel knowledge and experience</a:t>
            </a:r>
            <a:r>
              <a:rPr lang="en-US" dirty="0"/>
              <a:t>. </a:t>
            </a:r>
          </a:p>
          <a:p>
            <a:r>
              <a:rPr lang="en-US" dirty="0"/>
              <a:t>It </a:t>
            </a:r>
            <a:r>
              <a:rPr lang="en-US" b="1" dirty="0"/>
              <a:t>changes the strength of the relationship</a:t>
            </a:r>
            <a:r>
              <a:rPr lang="en-US" dirty="0"/>
              <a:t> between attitude and actual travel behavior. </a:t>
            </a:r>
          </a:p>
          <a:p>
            <a:pPr lvl="1"/>
            <a:r>
              <a:rPr lang="en-US" sz="2400" dirty="0"/>
              <a:t>Example: Experienced travelers may rely less on social media. </a:t>
            </a:r>
          </a:p>
          <a:p>
            <a:br>
              <a:rPr lang="en-US" dirty="0"/>
            </a:br>
            <a:r>
              <a:rPr lang="en-US" b="1" dirty="0"/>
              <a:t>6. Actual Travel Behaviour (Dependent Variable)</a:t>
            </a:r>
          </a:p>
          <a:p>
            <a:r>
              <a:rPr lang="en-US" dirty="0"/>
              <a:t>The </a:t>
            </a:r>
            <a:r>
              <a:rPr lang="en-US" b="1" dirty="0"/>
              <a:t>final outcome</a:t>
            </a:r>
            <a:r>
              <a:rPr lang="en-US" dirty="0"/>
              <a:t>—whether a person actually makes travel decisions based on social media. </a:t>
            </a:r>
          </a:p>
          <a:p>
            <a:r>
              <a:rPr lang="en-US" dirty="0"/>
              <a:t>Includes actions like booking trips, choosing destinations, etc.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45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C510-DA53-780C-5129-62FD0F60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1082675"/>
            <a:ext cx="5297163" cy="1380489"/>
          </a:xfrm>
        </p:spPr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Hypothesis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55740-79C2-8ADD-46C7-96CEA758A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1450" y="3063875"/>
            <a:ext cx="16804005" cy="7217360"/>
          </a:xfrm>
        </p:spPr>
        <p:txBody>
          <a:bodyPr/>
          <a:lstStyle/>
          <a:p>
            <a:r>
              <a:rPr lang="en-US" b="1" dirty="0"/>
              <a:t>Direct Relationships (Independent → Mediator)</a:t>
            </a:r>
          </a:p>
          <a:p>
            <a:r>
              <a:rPr lang="en-US" sz="2400" b="1" dirty="0"/>
              <a:t>H1:</a:t>
            </a:r>
            <a:r>
              <a:rPr lang="en-US" sz="2400" dirty="0"/>
              <a:t> Perceived Enjoyment has a </a:t>
            </a:r>
            <a:r>
              <a:rPr lang="en-US" sz="2400" b="1" dirty="0"/>
              <a:t>positive effect</a:t>
            </a:r>
            <a:r>
              <a:rPr lang="en-US" sz="2400" dirty="0"/>
              <a:t> on Attitude Toward Social Media for Travel.</a:t>
            </a:r>
          </a:p>
          <a:p>
            <a:r>
              <a:rPr lang="en-US" sz="2400" b="1" dirty="0"/>
              <a:t>H2:</a:t>
            </a:r>
            <a:r>
              <a:rPr lang="en-US" sz="2400" dirty="0"/>
              <a:t> Trustworthiness has a </a:t>
            </a:r>
            <a:r>
              <a:rPr lang="en-US" sz="2400" b="1" dirty="0"/>
              <a:t>positive effect</a:t>
            </a:r>
            <a:r>
              <a:rPr lang="en-US" sz="2400" dirty="0"/>
              <a:t> on Attitude Toward Social Media for Travel.</a:t>
            </a:r>
          </a:p>
          <a:p>
            <a:r>
              <a:rPr lang="en-US" sz="2400" b="1" dirty="0"/>
              <a:t>H3:</a:t>
            </a:r>
            <a:r>
              <a:rPr lang="en-US" sz="2400" dirty="0"/>
              <a:t> Influencer Credibility has a </a:t>
            </a:r>
            <a:r>
              <a:rPr lang="en-US" sz="2400" b="1" dirty="0"/>
              <a:t>positive effect</a:t>
            </a:r>
            <a:r>
              <a:rPr lang="en-US" sz="2400" dirty="0"/>
              <a:t> on Attitude Toward Social Media for Travel.</a:t>
            </a:r>
            <a:endParaRPr lang="en-US" sz="2800" dirty="0"/>
          </a:p>
          <a:p>
            <a:r>
              <a:rPr lang="en-US" sz="2400" b="1" dirty="0"/>
              <a:t>H4:</a:t>
            </a:r>
            <a:r>
              <a:rPr lang="en-US" sz="2400" dirty="0"/>
              <a:t> Attitude Toward Social Media for Travel has a </a:t>
            </a:r>
            <a:r>
              <a:rPr lang="en-US" sz="2400" b="1" dirty="0"/>
              <a:t>positive effect</a:t>
            </a:r>
            <a:r>
              <a:rPr lang="en-US" sz="2400" dirty="0"/>
              <a:t> on Actual Travel Behaviour.</a:t>
            </a:r>
          </a:p>
          <a:p>
            <a:endParaRPr lang="en-US" dirty="0"/>
          </a:p>
          <a:p>
            <a:r>
              <a:rPr lang="en-US" b="1" dirty="0"/>
              <a:t>Moderation Effect</a:t>
            </a:r>
          </a:p>
          <a:p>
            <a:r>
              <a:rPr lang="en-US" sz="2400" b="1" dirty="0"/>
              <a:t>H5:</a:t>
            </a:r>
            <a:r>
              <a:rPr lang="en-US" sz="2400" dirty="0"/>
              <a:t> Travel Experience </a:t>
            </a:r>
            <a:r>
              <a:rPr lang="en-US" sz="2400" b="1" dirty="0"/>
              <a:t>moderates</a:t>
            </a:r>
            <a:r>
              <a:rPr lang="en-US" sz="2400" dirty="0"/>
              <a:t> the relationship between Attitude Toward Social Media for Travel and Actual Travel Behaviour.</a:t>
            </a:r>
          </a:p>
          <a:p>
            <a:endParaRPr lang="en-US" sz="2800" dirty="0"/>
          </a:p>
          <a:p>
            <a:r>
              <a:rPr lang="en-US" b="1" dirty="0"/>
              <a:t>Mediation Hypotheses:</a:t>
            </a:r>
            <a:br>
              <a:rPr lang="en-US" dirty="0"/>
            </a:br>
            <a:r>
              <a:rPr lang="en-US" sz="2400" b="1" dirty="0"/>
              <a:t>H6:</a:t>
            </a:r>
            <a:r>
              <a:rPr lang="en-US" sz="2400" dirty="0"/>
              <a:t> Attitude Toward Social Media for Travel </a:t>
            </a:r>
            <a:r>
              <a:rPr lang="en-US" sz="2400" b="1" dirty="0"/>
              <a:t>mediates</a:t>
            </a:r>
            <a:r>
              <a:rPr lang="en-US" sz="2400" dirty="0"/>
              <a:t> the relationship between Perceived Enjoyment and Actual Travel Behaviour.</a:t>
            </a:r>
          </a:p>
          <a:p>
            <a:r>
              <a:rPr lang="en-US" sz="2400" b="1" dirty="0"/>
              <a:t>H7:</a:t>
            </a:r>
            <a:r>
              <a:rPr lang="en-US" sz="2400" dirty="0"/>
              <a:t> Attitude Toward Social Media for Travel </a:t>
            </a:r>
            <a:r>
              <a:rPr lang="en-US" sz="2400" b="1" dirty="0"/>
              <a:t>mediates</a:t>
            </a:r>
            <a:r>
              <a:rPr lang="en-US" sz="2400" dirty="0"/>
              <a:t> the relationship between Trustworthiness and Actual Travel Behaviour.</a:t>
            </a:r>
          </a:p>
          <a:p>
            <a:r>
              <a:rPr lang="en-US" sz="2400" b="1" dirty="0"/>
              <a:t>H8:</a:t>
            </a:r>
            <a:r>
              <a:rPr lang="en-US" sz="2400" dirty="0"/>
              <a:t> Attitude Toward Social Media for Travel </a:t>
            </a:r>
            <a:r>
              <a:rPr lang="en-US" sz="2400" b="1" dirty="0"/>
              <a:t>mediates</a:t>
            </a:r>
            <a:r>
              <a:rPr lang="en-US" sz="2400" dirty="0"/>
              <a:t> the relationship between Influencer Credibility and Actual Travel Behaviour.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63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920C-35BE-88DA-1E9C-96314703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473075"/>
            <a:ext cx="10134600" cy="3134848"/>
          </a:xfrm>
        </p:spPr>
        <p:txBody>
          <a:bodyPr/>
          <a:lstStyle/>
          <a:p>
            <a:r>
              <a:rPr lang="en-IN" dirty="0"/>
              <a:t>Link of Questionnaire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B36DB-AA48-F9B7-DA27-28D42512C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4450" y="2149475"/>
            <a:ext cx="16804005" cy="8240717"/>
          </a:xfrm>
        </p:spPr>
        <p:txBody>
          <a:bodyPr/>
          <a:lstStyle/>
          <a:p>
            <a:r>
              <a:rPr lang="en-US" b="1" dirty="0"/>
              <a:t>Link: </a:t>
            </a:r>
            <a:r>
              <a:rPr lang="en-US" sz="2000" b="1" dirty="0">
                <a:hlinkClick r:id="rId3" action="ppaction://hlinkfile"/>
              </a:rPr>
              <a:t>https://docs.google.com/forms/d/e/1FAIpQLSewhfg6eog0_75qj3YPPZgjCC5geFtPlzSjUQfqzEii3yv3NQ/viewform?usp=dialog</a:t>
            </a:r>
            <a:endParaRPr lang="en-US" sz="2000" b="1" dirty="0"/>
          </a:p>
          <a:p>
            <a:endParaRPr lang="en-US" b="1" dirty="0"/>
          </a:p>
          <a:p>
            <a:r>
              <a:rPr lang="en-US" b="1" dirty="0"/>
              <a:t>1. Perceived Enjoyment</a:t>
            </a:r>
          </a:p>
          <a:p>
            <a:r>
              <a:rPr lang="en-US" dirty="0"/>
              <a:t>I find using social media for travel-related content enjoyable. </a:t>
            </a:r>
            <a:r>
              <a:rPr lang="en-IN" dirty="0"/>
              <a:t>[1], [4]</a:t>
            </a:r>
            <a:endParaRPr lang="en-US" dirty="0"/>
          </a:p>
          <a:p>
            <a:r>
              <a:rPr lang="en-US" dirty="0"/>
              <a:t>I have fun exploring travel destinations through social media platforms. </a:t>
            </a:r>
            <a:r>
              <a:rPr lang="en-IN" dirty="0"/>
              <a:t>[1], [8]</a:t>
            </a:r>
            <a:endParaRPr lang="en-US" dirty="0"/>
          </a:p>
          <a:p>
            <a:r>
              <a:rPr lang="en-US" b="1" dirty="0"/>
              <a:t>2. Trustworthiness</a:t>
            </a:r>
          </a:p>
          <a:p>
            <a:r>
              <a:rPr lang="en-US" dirty="0"/>
              <a:t>I consider travel information on social media to be reliable. </a:t>
            </a:r>
            <a:r>
              <a:rPr lang="en-IN" dirty="0"/>
              <a:t>[2], [10] </a:t>
            </a:r>
            <a:endParaRPr lang="en-US" dirty="0"/>
          </a:p>
          <a:p>
            <a:r>
              <a:rPr lang="en-US" dirty="0"/>
              <a:t>I trust the travel-related content shared on social media platforms. </a:t>
            </a:r>
            <a:r>
              <a:rPr lang="en-IN" dirty="0"/>
              <a:t>[2], [6]</a:t>
            </a:r>
            <a:endParaRPr lang="en-US" dirty="0"/>
          </a:p>
          <a:p>
            <a:r>
              <a:rPr lang="en-US" b="1" dirty="0"/>
              <a:t>3. Influencer Credibility</a:t>
            </a:r>
          </a:p>
          <a:p>
            <a:r>
              <a:rPr lang="en-US" dirty="0"/>
              <a:t>I believe that travel influencers provide credible information about destinations. </a:t>
            </a:r>
            <a:r>
              <a:rPr lang="en-IN" dirty="0"/>
              <a:t>[3], [7]</a:t>
            </a:r>
            <a:endParaRPr lang="en-US" dirty="0"/>
          </a:p>
          <a:p>
            <a:r>
              <a:rPr lang="en-US" dirty="0"/>
              <a:t>I trust recommendations given by travel influencers on social media. </a:t>
            </a:r>
            <a:r>
              <a:rPr lang="en-IN" dirty="0"/>
              <a:t>[3], [9]</a:t>
            </a:r>
            <a:endParaRPr lang="en-US" dirty="0"/>
          </a:p>
          <a:p>
            <a:r>
              <a:rPr lang="en-US" b="1" dirty="0"/>
              <a:t>4. Attitude Toward Social Media for Travel</a:t>
            </a:r>
          </a:p>
          <a:p>
            <a:r>
              <a:rPr lang="en-US" dirty="0"/>
              <a:t>I have a positive attitude toward using social media for travel planning. </a:t>
            </a:r>
            <a:r>
              <a:rPr lang="en-IN" dirty="0"/>
              <a:t>[2], [7]</a:t>
            </a:r>
            <a:endParaRPr lang="en-US" dirty="0"/>
          </a:p>
          <a:p>
            <a:r>
              <a:rPr lang="en-US" dirty="0"/>
              <a:t>Using social media for travel decisions is a good idea. </a:t>
            </a:r>
            <a:r>
              <a:rPr lang="en-IN" dirty="0"/>
              <a:t>[2], [10]</a:t>
            </a:r>
            <a:endParaRPr lang="en-US" dirty="0"/>
          </a:p>
          <a:p>
            <a:r>
              <a:rPr lang="en-US" b="1" dirty="0"/>
              <a:t>5. Travel Experience</a:t>
            </a:r>
          </a:p>
          <a:p>
            <a:r>
              <a:rPr lang="en-US" dirty="0"/>
              <a:t>I have significant prior experience in traveling to different places. </a:t>
            </a:r>
            <a:r>
              <a:rPr lang="en-IN" dirty="0"/>
              <a:t>[4], [8]</a:t>
            </a:r>
            <a:endParaRPr lang="en-US" dirty="0"/>
          </a:p>
          <a:p>
            <a:r>
              <a:rPr lang="en-US" dirty="0"/>
              <a:t>My past travel experiences help me make better travel decisions. </a:t>
            </a:r>
            <a:r>
              <a:rPr lang="en-IN" dirty="0"/>
              <a:t>[4], [5]</a:t>
            </a:r>
            <a:endParaRPr lang="en-US" dirty="0"/>
          </a:p>
          <a:p>
            <a:r>
              <a:rPr lang="en-US" b="1" dirty="0"/>
              <a:t>6. Actual Travel Behaviour</a:t>
            </a:r>
          </a:p>
          <a:p>
            <a:r>
              <a:rPr lang="en-US" dirty="0"/>
              <a:t>I often choose travel destinations based on what I see on social media. </a:t>
            </a:r>
            <a:r>
              <a:rPr lang="en-IN" dirty="0"/>
              <a:t>[1], [6]</a:t>
            </a:r>
            <a:endParaRPr lang="en-US" dirty="0"/>
          </a:p>
          <a:p>
            <a:r>
              <a:rPr lang="en-US" dirty="0"/>
              <a:t>Social media influences my actual travel decisions and actions. </a:t>
            </a:r>
            <a:r>
              <a:rPr lang="en-IN" dirty="0"/>
              <a:t>[2], [9]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35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4EF8-4BD4-24F1-F47B-EE64B952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650" y="625475"/>
            <a:ext cx="12115800" cy="1361911"/>
          </a:xfrm>
        </p:spPr>
        <p:txBody>
          <a:bodyPr/>
          <a:lstStyle/>
          <a:p>
            <a:r>
              <a:rPr lang="en-IN" dirty="0"/>
              <a:t>Total data collected- 104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5916-62A0-F55A-43CB-4434B3574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050" y="2530475"/>
            <a:ext cx="16804005" cy="6771084"/>
          </a:xfrm>
        </p:spPr>
        <p:txBody>
          <a:bodyPr/>
          <a:lstStyle/>
          <a:p>
            <a:r>
              <a:rPr lang="en-IN" sz="3200" b="1" dirty="0"/>
              <a:t>List of References</a:t>
            </a:r>
          </a:p>
          <a:p>
            <a:endParaRPr lang="en-IN" dirty="0"/>
          </a:p>
          <a:p>
            <a:r>
              <a:rPr lang="en-IN" dirty="0"/>
              <a:t>[1] Liu, H., Wu, L., &amp; Li, X. (2018). Social Media Envy: How Experience Sharing on Social Networking Sites Drives Millennials' Aspirational Tourism Consumption. </a:t>
            </a:r>
            <a:r>
              <a:rPr lang="en-IN" i="1" dirty="0"/>
              <a:t>Journal of Travel Research</a:t>
            </a:r>
            <a:r>
              <a:rPr lang="en-IN" dirty="0"/>
              <a:t>, 1-15.</a:t>
            </a:r>
          </a:p>
          <a:p>
            <a:endParaRPr lang="en-IN" dirty="0"/>
          </a:p>
          <a:p>
            <a:r>
              <a:rPr lang="en-IN" dirty="0"/>
              <a:t>[2] Ayeh, J. K., Au, N., &amp; Law, R. (2013). Predicting the intention to use consumer-generated media for travel planning. </a:t>
            </a:r>
            <a:r>
              <a:rPr lang="en-IN" i="1" dirty="0"/>
              <a:t>Tourism Management</a:t>
            </a:r>
            <a:r>
              <a:rPr lang="en-IN" dirty="0"/>
              <a:t>, 35, 132-143.</a:t>
            </a:r>
          </a:p>
          <a:p>
            <a:endParaRPr lang="en-IN" dirty="0"/>
          </a:p>
          <a:p>
            <a:r>
              <a:rPr lang="en-IN" dirty="0"/>
              <a:t>[3] Leung, X. Y., Zhong, Y. S., &amp; Sun, J. (2025). The impact of social media influencer's age cue on older adults' travel intention: The moderating roles of travel cues and travel constraints. </a:t>
            </a:r>
            <a:r>
              <a:rPr lang="en-IN" i="1" dirty="0"/>
              <a:t>Tourism Management</a:t>
            </a:r>
            <a:r>
              <a:rPr lang="en-IN" dirty="0"/>
              <a:t>, 106, 104979.</a:t>
            </a:r>
          </a:p>
          <a:p>
            <a:endParaRPr lang="en-IN" dirty="0"/>
          </a:p>
          <a:p>
            <a:r>
              <a:rPr lang="en-IN" dirty="0"/>
              <a:t>[4] </a:t>
            </a:r>
            <a:r>
              <a:rPr lang="en-IN" dirty="0" err="1"/>
              <a:t>Sedera</a:t>
            </a:r>
            <a:r>
              <a:rPr lang="en-IN" dirty="0"/>
              <a:t>, D., </a:t>
            </a:r>
            <a:r>
              <a:rPr lang="en-IN" dirty="0" err="1"/>
              <a:t>Lokuge</a:t>
            </a:r>
            <a:r>
              <a:rPr lang="en-IN" dirty="0"/>
              <a:t>, S., Atapattu, M., &amp; </a:t>
            </a:r>
            <a:r>
              <a:rPr lang="en-IN" dirty="0" err="1"/>
              <a:t>Gretzel</a:t>
            </a:r>
            <a:r>
              <a:rPr lang="en-IN" dirty="0"/>
              <a:t>, U. (2017). Likes - the key to my happiness: The moderating effect of social influence on travel experience. </a:t>
            </a:r>
            <a:r>
              <a:rPr lang="en-IN" i="1" dirty="0"/>
              <a:t>Information and Management</a:t>
            </a:r>
            <a:r>
              <a:rPr lang="en-IN" dirty="0"/>
              <a:t>, 54(6), 825-836.</a:t>
            </a:r>
          </a:p>
          <a:p>
            <a:endParaRPr lang="en-IN" dirty="0"/>
          </a:p>
          <a:p>
            <a:r>
              <a:rPr lang="en-IN" dirty="0"/>
              <a:t>[5] Kathuria, S., Tandon, U., Ertz, M., &amp; Bansal, H. (2020). Social vacation: Proposition of a model to understand tourists' usage of social media for travel planning. </a:t>
            </a:r>
            <a:r>
              <a:rPr lang="en-IN" i="1" dirty="0"/>
              <a:t>Manuscript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99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A7417-3583-1B9A-B09D-C164965ED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650" y="2606675"/>
            <a:ext cx="16512424" cy="5886227"/>
          </a:xfrm>
        </p:spPr>
        <p:txBody>
          <a:bodyPr/>
          <a:lstStyle/>
          <a:p>
            <a:r>
              <a:rPr lang="en-IN" dirty="0"/>
              <a:t>[6] Van </a:t>
            </a:r>
            <a:r>
              <a:rPr lang="en-IN" dirty="0" err="1"/>
              <a:t>Asperen</a:t>
            </a:r>
            <a:r>
              <a:rPr lang="en-IN" dirty="0"/>
              <a:t>, M., de </a:t>
            </a:r>
            <a:r>
              <a:rPr lang="en-IN" dirty="0" err="1"/>
              <a:t>Rooij</a:t>
            </a:r>
            <a:r>
              <a:rPr lang="en-IN" dirty="0"/>
              <a:t>, P., &amp; </a:t>
            </a:r>
            <a:r>
              <a:rPr lang="en-IN" dirty="0" err="1"/>
              <a:t>Dijkmans</a:t>
            </a:r>
            <a:r>
              <a:rPr lang="en-IN" dirty="0"/>
              <a:t>, C. (2017). Engagement-based loyalty: The effects of social media engagement on customer loyalty in the travel industry. </a:t>
            </a:r>
            <a:r>
              <a:rPr lang="en-IN" i="1" dirty="0"/>
              <a:t>International Journal of Hospitality &amp; Tourism Administration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[7] Singh, S., &amp; Srivastava, P. (2019). Social media for outbound leisure travel: A framework based on technology acceptance model (TAM). </a:t>
            </a:r>
            <a:r>
              <a:rPr lang="en-IN" i="1" dirty="0"/>
              <a:t>Journal of Tourism Futures</a:t>
            </a:r>
            <a:r>
              <a:rPr lang="en-IN" dirty="0"/>
              <a:t>, 5(1), 43-61.</a:t>
            </a:r>
          </a:p>
          <a:p>
            <a:endParaRPr lang="en-IN" dirty="0"/>
          </a:p>
          <a:p>
            <a:r>
              <a:rPr lang="en-IN" dirty="0"/>
              <a:t>[8] Kang, M., &amp; Schuett, M. A. (2013). Determinants of sharing travel experiences in social media. </a:t>
            </a:r>
            <a:r>
              <a:rPr lang="en-IN" i="1" dirty="0"/>
              <a:t>Journal of Travel &amp; Tourism Marketing</a:t>
            </a:r>
            <a:r>
              <a:rPr lang="en-IN" dirty="0"/>
              <a:t>, 30, 1-15.</a:t>
            </a:r>
          </a:p>
          <a:p>
            <a:endParaRPr lang="en-IN" dirty="0"/>
          </a:p>
          <a:p>
            <a:r>
              <a:rPr lang="en-IN" dirty="0"/>
              <a:t>[9] Christou, E. (2015). Branding Social Media in the Travel Industry. </a:t>
            </a:r>
            <a:r>
              <a:rPr lang="en-IN" i="1" dirty="0"/>
              <a:t>Procedia - Social and </a:t>
            </a:r>
            <a:r>
              <a:rPr lang="en-IN" i="1" dirty="0" err="1"/>
              <a:t>Behavioral</a:t>
            </a:r>
            <a:r>
              <a:rPr lang="en-IN" i="1" dirty="0"/>
              <a:t> Sciences</a:t>
            </a:r>
            <a:r>
              <a:rPr lang="en-IN" dirty="0"/>
              <a:t>, 175, 607-614.</a:t>
            </a:r>
          </a:p>
          <a:p>
            <a:endParaRPr lang="en-IN" dirty="0"/>
          </a:p>
          <a:p>
            <a:r>
              <a:rPr lang="en-IN" dirty="0"/>
              <a:t>[10] Chung, N., &amp; Koo, C. (2015). The use of social media in travel information search. </a:t>
            </a:r>
            <a:r>
              <a:rPr lang="en-IN" i="1" dirty="0"/>
              <a:t>Telematics and Informatics</a:t>
            </a:r>
            <a:r>
              <a:rPr lang="en-IN" dirty="0"/>
              <a:t>, 32, 215-229.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89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C332-1283-7451-580C-702DB55D6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850" y="311795"/>
            <a:ext cx="4572000" cy="1015663"/>
          </a:xfrm>
        </p:spPr>
        <p:txBody>
          <a:bodyPr/>
          <a:lstStyle/>
          <a:p>
            <a:pPr algn="ctr"/>
            <a:r>
              <a:rPr lang="en-IN" sz="6600" dirty="0"/>
              <a:t>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FEDF2-71D7-0756-6C11-04FCD98D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069" y="1463675"/>
            <a:ext cx="16804005" cy="86106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AC4A72-2C4B-9AAE-F7EA-548CE0AE8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69" y="1463675"/>
            <a:ext cx="5567757" cy="4563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99993D-F1DA-42C4-AEB4-5DDD69108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144" y="1624277"/>
            <a:ext cx="5086024" cy="45130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56E5A2-39B5-F329-DD64-96E168665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6502" y="1756452"/>
            <a:ext cx="5153744" cy="42487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1AD3A3-347B-BBDE-3945-29F2D4BF2C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470" y="6373901"/>
            <a:ext cx="4686954" cy="33532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9435DE-FC2F-000E-FC6E-38A3D2061D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254" y="6456095"/>
            <a:ext cx="10125960" cy="321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4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68C78-1997-5864-7E5A-5954193EF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069" y="854075"/>
            <a:ext cx="16804005" cy="98298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64AC7-ABB8-1558-C991-D6CDBA9FE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69" y="854075"/>
            <a:ext cx="9245882" cy="914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6D56FE-43F3-BB36-43F2-AE0556348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18" y="1082675"/>
            <a:ext cx="8513483" cy="2819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A1C4A4-4CD3-9241-629D-710789557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18" y="4359275"/>
            <a:ext cx="8077199" cy="233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37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2D1E7-7368-300A-823B-AEFDCED4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650" y="244476"/>
            <a:ext cx="5297163" cy="990599"/>
          </a:xfrm>
        </p:spPr>
        <p:txBody>
          <a:bodyPr/>
          <a:lstStyle/>
          <a:p>
            <a:r>
              <a:rPr lang="en-IN" sz="7200" dirty="0"/>
              <a:t>Smart PLS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591E8-DD86-617D-1C2E-273597757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069" y="1692275"/>
            <a:ext cx="17817581" cy="86868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29735-FC5D-5CA0-4267-E7BAC55C5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469" y="1685665"/>
            <a:ext cx="9027589" cy="4883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C8BF4F-910C-ED8C-9F0B-124015794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213" y="5381329"/>
            <a:ext cx="4267200" cy="1633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D1B8C-FE9B-CB2A-24AB-9BED01800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308" y="1884440"/>
            <a:ext cx="3219899" cy="2857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874D79-E33D-3452-21FC-460BB8C87A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55" y="7676162"/>
            <a:ext cx="4848695" cy="24643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311448-7FBC-725B-7443-696B0485C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8077" y="1924414"/>
            <a:ext cx="3572374" cy="3877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440A23-E159-C127-AB38-7D70BC3C6B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557" y="7293195"/>
            <a:ext cx="3934374" cy="28769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CADB48-7CDC-D288-73C1-D78D595D70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128" y="7654197"/>
            <a:ext cx="7326950" cy="246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40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A9226-E3A0-18BD-C69D-F0541D7A2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069" y="625475"/>
            <a:ext cx="17651962" cy="97536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9D6E7E-3566-6329-3FA6-5002E16AC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486" y="635104"/>
            <a:ext cx="9397256" cy="4072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B60030-5F25-0266-56AF-5C641FF42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69" y="5304844"/>
            <a:ext cx="11403016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6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6" y="2434480"/>
            <a:ext cx="1272212" cy="12722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98146" y="7817825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39265">
            <a:solidFill>
              <a:srgbClr val="9080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5"/>
              </a:spcBef>
            </a:pPr>
            <a:r>
              <a:rPr spc="135" dirty="0"/>
              <a:t>Thank</a:t>
            </a:r>
            <a:r>
              <a:rPr spc="-434" dirty="0"/>
              <a:t> </a:t>
            </a:r>
            <a:r>
              <a:rPr spc="-530" dirty="0">
                <a:solidFill>
                  <a:srgbClr val="082449"/>
                </a:solidFill>
              </a:rPr>
              <a:t>You!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76279" y="6136981"/>
            <a:ext cx="511365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65" dirty="0">
                <a:solidFill>
                  <a:srgbClr val="A5897B"/>
                </a:solidFill>
                <a:latin typeface="Times New Roman"/>
                <a:cs typeface="Times New Roman"/>
              </a:rPr>
              <a:t>Any</a:t>
            </a:r>
            <a:r>
              <a:rPr sz="2950" spc="305" dirty="0">
                <a:solidFill>
                  <a:srgbClr val="A5897B"/>
                </a:solidFill>
                <a:latin typeface="Times New Roman"/>
                <a:cs typeface="Times New Roman"/>
              </a:rPr>
              <a:t> </a:t>
            </a:r>
            <a:r>
              <a:rPr sz="2950" spc="229" dirty="0">
                <a:solidFill>
                  <a:srgbClr val="A78967"/>
                </a:solidFill>
                <a:latin typeface="Times New Roman"/>
                <a:cs typeface="Times New Roman"/>
              </a:rPr>
              <a:t>Questions</a:t>
            </a:r>
            <a:r>
              <a:rPr sz="2950" spc="190" dirty="0">
                <a:solidFill>
                  <a:srgbClr val="A78967"/>
                </a:solidFill>
                <a:latin typeface="Times New Roman"/>
                <a:cs typeface="Times New Roman"/>
              </a:rPr>
              <a:t> </a:t>
            </a:r>
            <a:r>
              <a:rPr sz="2950" spc="220" dirty="0">
                <a:solidFill>
                  <a:srgbClr val="A0876B"/>
                </a:solidFill>
                <a:latin typeface="Times New Roman"/>
                <a:cs typeface="Times New Roman"/>
              </a:rPr>
              <a:t>or</a:t>
            </a:r>
            <a:r>
              <a:rPr sz="2950" spc="250" dirty="0">
                <a:solidFill>
                  <a:srgbClr val="A0876B"/>
                </a:solidFill>
                <a:latin typeface="Times New Roman"/>
                <a:cs typeface="Times New Roman"/>
              </a:rPr>
              <a:t> </a:t>
            </a:r>
            <a:r>
              <a:rPr sz="2950" spc="235" dirty="0">
                <a:solidFill>
                  <a:srgbClr val="9C876D"/>
                </a:solidFill>
                <a:latin typeface="Times New Roman"/>
                <a:cs typeface="Times New Roman"/>
              </a:rPr>
              <a:t>Feedback?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4198" y="8292020"/>
            <a:ext cx="5657215" cy="74828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49225" algn="ctr">
              <a:lnSpc>
                <a:spcPts val="2600"/>
              </a:lnSpc>
              <a:spcBef>
                <a:spcPts val="335"/>
              </a:spcBef>
              <a:tabLst>
                <a:tab pos="3921125" algn="l"/>
                <a:tab pos="4573270" algn="l"/>
              </a:tabLst>
            </a:pPr>
            <a:r>
              <a:rPr sz="2300" dirty="0">
                <a:solidFill>
                  <a:srgbClr val="627790"/>
                </a:solidFill>
                <a:latin typeface="Arial MT"/>
                <a:cs typeface="Arial MT"/>
              </a:rPr>
              <a:t>•</a:t>
            </a:r>
            <a:r>
              <a:rPr sz="2300" spc="125" dirty="0">
                <a:solidFill>
                  <a:srgbClr val="627790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778393"/>
                </a:solidFill>
                <a:latin typeface="Arial MT"/>
                <a:cs typeface="Arial MT"/>
              </a:rPr>
              <a:t>Year</a:t>
            </a:r>
            <a:r>
              <a:rPr sz="2300" spc="120" dirty="0">
                <a:solidFill>
                  <a:srgbClr val="778393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797979"/>
                </a:solidFill>
                <a:latin typeface="Arial MT"/>
                <a:cs typeface="Arial MT"/>
              </a:rPr>
              <a:t>2026 </a:t>
            </a:r>
            <a:endParaRPr lang="en-US" sz="2300" spc="-20" dirty="0">
              <a:solidFill>
                <a:srgbClr val="797979"/>
              </a:solidFill>
              <a:latin typeface="Arial MT"/>
              <a:cs typeface="Arial MT"/>
            </a:endParaRPr>
          </a:p>
          <a:p>
            <a:pPr marL="12700" marR="5080" indent="149225" algn="ctr">
              <a:lnSpc>
                <a:spcPts val="2600"/>
              </a:lnSpc>
              <a:spcBef>
                <a:spcPts val="335"/>
              </a:spcBef>
              <a:tabLst>
                <a:tab pos="3921125" algn="l"/>
                <a:tab pos="4573270" algn="l"/>
              </a:tabLst>
            </a:pPr>
            <a:r>
              <a:rPr sz="2300" dirty="0">
                <a:solidFill>
                  <a:srgbClr val="6B6B6B"/>
                </a:solidFill>
                <a:latin typeface="Arial MT"/>
                <a:cs typeface="Arial MT"/>
              </a:rPr>
              <a:t>Business</a:t>
            </a:r>
            <a:r>
              <a:rPr sz="2300" spc="30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6E6E6E"/>
                </a:solidFill>
                <a:latin typeface="Arial MT"/>
                <a:cs typeface="Arial MT"/>
              </a:rPr>
              <a:t>Research</a:t>
            </a:r>
            <a:r>
              <a:rPr sz="2300" spc="28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606060"/>
                </a:solidFill>
                <a:latin typeface="Arial MT"/>
                <a:cs typeface="Arial MT"/>
              </a:rPr>
              <a:t>Methodology</a:t>
            </a:r>
            <a:r>
              <a:rPr sz="2300" dirty="0">
                <a:solidFill>
                  <a:srgbClr val="606060"/>
                </a:solidFill>
                <a:latin typeface="Arial MT"/>
                <a:cs typeface="Arial MT"/>
              </a:rPr>
              <a:t>	</a:t>
            </a:r>
            <a:endParaRPr sz="2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2697</TotalTime>
  <Words>1205</Words>
  <Application>Microsoft Office PowerPoint</Application>
  <PresentationFormat>Custom</PresentationFormat>
  <Paragraphs>107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MT</vt:lpstr>
      <vt:lpstr>Calibri</vt:lpstr>
      <vt:lpstr>Cambria</vt:lpstr>
      <vt:lpstr>Times New Roman</vt:lpstr>
      <vt:lpstr>Wingdings</vt:lpstr>
      <vt:lpstr>Office Theme</vt:lpstr>
      <vt:lpstr>R E S EA R C H PR E S E N TAT I ON</vt:lpstr>
      <vt:lpstr>PowerPoint Presentation</vt:lpstr>
      <vt:lpstr>Model</vt:lpstr>
      <vt:lpstr>Role of variables </vt:lpstr>
      <vt:lpstr>PowerPoint Presentation</vt:lpstr>
      <vt:lpstr>Hypothesis</vt:lpstr>
      <vt:lpstr>Link of Questionnaire </vt:lpstr>
      <vt:lpstr>Total data collected- 104</vt:lpstr>
      <vt:lpstr>PowerPoint Presentation</vt:lpstr>
      <vt:lpstr>Analysis</vt:lpstr>
      <vt:lpstr>PowerPoint Presentation</vt:lpstr>
      <vt:lpstr>Smart PLS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samiksha</dc:creator>
  <cp:lastModifiedBy>prajwalchangalimath@gmail.com</cp:lastModifiedBy>
  <cp:revision>13</cp:revision>
  <dcterms:created xsi:type="dcterms:W3CDTF">2026-03-16T13:56:03Z</dcterms:created>
  <dcterms:modified xsi:type="dcterms:W3CDTF">2026-04-20T17:46:07Z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LastSaved">
    <vt:filetime>2026-03-16T00:00:00Z</vt:filetime>
  </property>
</Properties>
</file>